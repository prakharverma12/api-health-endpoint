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latency (ms)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t-6</c:v>
                  </c:pt>
                  <c:pt idx="1">
                    <c:v>t-5</c:v>
                  </c:pt>
                  <c:pt idx="2">
                    <c:v>t-4</c:v>
                  </c:pt>
                  <c:pt idx="3">
                    <c:v>t-3</c:v>
                  </c:pt>
                  <c:pt idx="4">
                    <c:v>t-2</c:v>
                  </c:pt>
                  <c:pt idx="5">
                    <c:v>t-1</c:v>
                  </c:pt>
                  <c:pt idx="6">
                    <c:v>t (now)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</c:v>
                </c:pt>
                <c:pt idx="1">
                  <c:v>132</c:v>
                </c:pt>
                <c:pt idx="2">
                  <c:v>128</c:v>
                </c:pt>
                <c:pt idx="3">
                  <c:v>118</c:v>
                </c:pt>
                <c:pt idx="4">
                  <c:v>310</c:v>
                </c:pt>
                <c:pt idx="5">
                  <c:v>145</c:v>
                </c:pt>
                <c:pt idx="6">
                  <c:v>130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1 · API MONITORING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Systems Track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break.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notices.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real-time API health &amp; governance, built for Sundaram Finance's loan, KYC, payment, and dealer integrations.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046720" cy="0"/>
          </a:xfrm>
          <a:prstGeom prst="line">
            <a:avLst/>
          </a:prstGeom>
          <a:noFill/>
          <a:ln w="12700">
            <a:solidFill>
              <a:srgbClr val="2A4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Solution Deep-Dive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Bharati &amp; Prakhar Verma  ·  IIT Kharagpur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DIAGNOSIS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API governance breaks down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45389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176479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" y="205740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occurs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5216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latency spike or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call, silently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221992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04872" y="13258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home/claude/icons/com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4538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176479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532888" y="205740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notices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532888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loan, KYC, or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step stalls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169664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352544" y="13258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icons/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5389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80560" y="176479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480560" y="205740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logged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480560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escalates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engineering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117336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300216" y="13258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45389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28232" y="176479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28232" y="205740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reacts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28232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begins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cold start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57200" y="2862072"/>
            <a:ext cx="7461504" cy="0"/>
          </a:xfrm>
          <a:prstGeom prst="line">
            <a:avLst/>
          </a:prstGeom>
          <a:noFill/>
          <a:ln w="19050">
            <a:solidFill>
              <a:srgbClr val="C1453D"/>
            </a:solidFill>
            <a:prstDash val="dash"/>
          </a:ln>
        </p:spPr>
      </p:sp>
      <p:sp>
        <p:nvSpPr>
          <p:cNvPr id="28" name="Text 22"/>
          <p:cNvSpPr/>
          <p:nvPr/>
        </p:nvSpPr>
        <p:spPr>
          <a:xfrm>
            <a:off x="457200" y="29260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 — hours, sometimes days, before anyone in IT knows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37033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visibility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3995928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Loan, KYC, payment, and dealer APIs are each watched (or not) by a different team — no single source of truth.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3264408" y="37033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trail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3264408" y="3995928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logs sit scattered across services; audit prep ahead of an RBI review becomes a manual scramble.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071616" y="37033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 model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6071616" y="3995928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governance layer, nobody is accountable for deprecating stale endpoints or enforcing rate limits.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affected when an API quietly fails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rgbClr val="DCF0F8"/>
          </a:solidFill>
          <a:ln/>
        </p:spPr>
      </p:sp>
      <p:pic>
        <p:nvPicPr>
          <p:cNvPr id="6" name="Image 0" descr="/home/claude/icons/laptop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9110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SRE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218541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real-time visibility and fast triage — not a war-room guessing game.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1399032"/>
            <a:ext cx="457200" cy="457200"/>
          </a:xfrm>
          <a:prstGeom prst="ellipse">
            <a:avLst/>
          </a:prstGeom>
          <a:solidFill>
            <a:srgbClr val="DCF0F8"/>
          </a:solidFill>
          <a:ln/>
        </p:spPr>
      </p:sp>
      <p:pic>
        <p:nvPicPr>
          <p:cNvPr id="11" name="Image 1" descr="/home/claude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19110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Lines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56432" y="218541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Insurance, and Dealer teams need customer flows that stay up during disbursal and renewal cycles.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399032"/>
            <a:ext cx="457200" cy="457200"/>
          </a:xfrm>
          <a:prstGeom prst="ellipse">
            <a:avLst/>
          </a:prstGeom>
          <a:solidFill>
            <a:srgbClr val="DCF0F8"/>
          </a:solidFill>
          <a:ln/>
        </p:spPr>
      </p:sp>
      <p:pic>
        <p:nvPicPr>
          <p:cNvPr id="16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19110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91072" y="218541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audit-ready logs mapped to RBI's API security and data-protection expectations.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" y="3044952"/>
            <a:ext cx="457200" cy="457200"/>
          </a:xfrm>
          <a:prstGeom prst="ellipse">
            <a:avLst/>
          </a:prstGeom>
          <a:solidFill>
            <a:srgbClr val="DCF0F8"/>
          </a:solidFill>
          <a:ln/>
        </p:spPr>
      </p:sp>
      <p:pic>
        <p:nvPicPr>
          <p:cNvPr id="21" name="Image 3" descr="/home/claude/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46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792" y="35570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&amp; Partner Network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1792" y="383133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predictable SLAs on the APIs they integrate with every single day.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56432" y="3044952"/>
            <a:ext cx="457200" cy="457200"/>
          </a:xfrm>
          <a:prstGeom prst="ellipse">
            <a:avLst/>
          </a:prstGeom>
          <a:solidFill>
            <a:srgbClr val="DCF0F8"/>
          </a:solidFill>
          <a:ln/>
        </p:spPr>
      </p:sp>
      <p:pic>
        <p:nvPicPr>
          <p:cNvPr id="26" name="Image 4" descr="/home/claude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5468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56432" y="35570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Customers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56432" y="383133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loan, KYC, and payment journeys that don't silently break mid-process.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3044952"/>
            <a:ext cx="457200" cy="457200"/>
          </a:xfrm>
          <a:prstGeom prst="ellipse">
            <a:avLst/>
          </a:prstGeom>
          <a:solidFill>
            <a:srgbClr val="DCF0F8"/>
          </a:solidFill>
          <a:ln/>
        </p:spPr>
      </p:sp>
      <p:pic>
        <p:nvPicPr>
          <p:cNvPr id="31" name="Image 5" descr="/home/claude/icons/user-ti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5468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1072" y="35570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/ CTO Office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91072" y="383133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one governance view, not six fragmented team-level dashboards.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generic tooling doesn't fit Sundaram's needs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Enterprise APM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(Datadog, New Relic)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API Gateway Suites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(Kong, Apigee)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Sentinel (Ours)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Cost &amp; licensing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Per-host pricing that scales expensive fast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Bundled with gateway license — still $$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Built on FastAPI + PostgreSQL — near-zero licensing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Compliance fit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Generic observability, no NBFC audit trail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Strong on traffic control, weak on audit logs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Structured logs designed around RBI audit needs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Deployment effort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Heavy agent rollout across every service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Requires re-routing all traffic through gateway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Layers onto existing APIs — no re-architecture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Ownership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Vendor-locked, black-box alerting logic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Vendor-locked routing &amp; policy logic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5166"/>
                          </a:solidFill>
                        </a:rPr>
                        <a:t>In-house codebase, extensible by Sundaram's own team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Sentinel works,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cons/databas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1790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0352" y="208483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0352" y="24231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Loan, KYC, payment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dealer endpoints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920240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057400" y="13716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home/claude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5179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18745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130552" y="208483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130552" y="24231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health-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streams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3520440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657600" y="13716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0B4D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1790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49040" y="18745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30752" y="208483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Engine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730752" y="24231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+ backoff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logic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5120640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257800" y="13716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/home/claude/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1790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18745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330952" y="208483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 Store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330952" y="24231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indexed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6720840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858000" y="137160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4" descr="/home/claude/icons/tachometer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51790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49440" y="18745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931152" y="208483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Dashboard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931152" y="24231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audit,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 endpoints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LAYER — WHO ACTS, ON WHAT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57200" y="3364992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03504" y="3493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603504" y="37856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real-time alert the moment an anomaly fires — not after a complaint.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3264408" y="3364992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3410712" y="3493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3410712" y="37856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 structured audit report directly, no manual log reconstruction.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071616" y="3364992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6217920" y="3493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6217920" y="37856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governance dashboard weekly to approve or deprecate endpoints.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four-part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80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pic>
        <p:nvPicPr>
          <p:cNvPr id="6" name="Image 0" descr="/home/claude/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912" y="14173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83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checks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0939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streams ping every registered endpoint continuously — the same low-latency approach that cut response times 60% in our Crypto Matching Engine.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380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pic>
        <p:nvPicPr>
          <p:cNvPr id="11" name="Image 1" descr="/home/claude/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14173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1783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alerts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92040" y="20939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with exponential backoff, proven in Crypto Weather Nexus, flags throttling before it cascades into downstream failures.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0080" y="30266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pic>
        <p:nvPicPr>
          <p:cNvPr id="16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12" y="30632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" y="34290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access logs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" y="373989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written to PostgreSQL with actor, endpoint, and status — audit-ready, not reconstructed after the fact.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892040" y="30266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pic>
        <p:nvPicPr>
          <p:cNvPr id="21" name="Image 3" descr="/home/claude/icons/tachome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30632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92040" y="34290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dashboard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892040" y="373989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control plane where teams approve new endpoints, audit usage, and deprecate stale ones without a ticket queue.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Sentinel reads a live data stream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E8F8F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07008"/>
            <a:ext cx="164592" cy="438912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0700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STATUS: BUILT &amp; VALIDATED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Sentinel's anomaly detection pipeline has been stress-tested against a synthetic dataset engineered to mirror real NBFC API traffic — latency distributions, burst error windows, and endpoint failure signatures. Swapping in the official Sundaram dataset requires a single schema mapping step, with no changes to the core detection or alerting logic.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15798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ingested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(timestamp, endpoint,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status code)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359152" y="213969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847088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048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215798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through Sentinel's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monitor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462272" y="213969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847088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215798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engine flags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 &amp;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bursts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6565392" y="213969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847088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76288" y="215798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event surfaces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governance</a:t>
            </a:r>
            <a:endParaRPr lang="en-US" sz="87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instantly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57200" y="28712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validation run — same pipeline, same thresholds that will process the official dataset in the Round 3 prototyping phase.</a:t>
            </a:r>
            <a:endParaRPr lang="en-US" sz="9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3108960"/>
          <a:ext cx="51206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3310128" y="3456432"/>
            <a:ext cx="201168" cy="201168"/>
          </a:xfrm>
          <a:prstGeom prst="ellipse">
            <a:avLst/>
          </a:prstGeom>
          <a:solidFill>
            <a:srgbClr val="C1453D"/>
          </a:solidFill>
          <a:ln/>
        </p:spPr>
      </p:sp>
      <p:sp>
        <p:nvSpPr>
          <p:cNvPr id="25" name="Text 22"/>
          <p:cNvSpPr/>
          <p:nvPr/>
        </p:nvSpPr>
        <p:spPr>
          <a:xfrm>
            <a:off x="3529584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C1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C1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760720" y="3108960"/>
            <a:ext cx="2926080" cy="1783080"/>
          </a:xfrm>
          <a:prstGeom prst="roundRect">
            <a:avLst>
              <a:gd name="adj" fmla="val 4103"/>
            </a:avLst>
          </a:prstGeom>
          <a:solidFill>
            <a:srgbClr val="0D1B2A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WOULD SHOW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4360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/loans/disburse</a:t>
            </a:r>
            <a:endParaRPr lang="en-US" sz="9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310ms (baseline ~125ms)</a:t>
            </a:r>
            <a:endParaRPr lang="en-US" sz="9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anomaly flagged</a:t>
            </a:r>
            <a:endParaRPr lang="en-US" sz="9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sent: on-call engineer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CONSTRAINTS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 — and owning the trade-offs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TODAY — FROM OUR OWN SHIPPED PROJECTS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4752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reduced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WebSockets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371600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444752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47288" y="188366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load time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CollegeTips.in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71616" y="1371600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1444752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54496" y="188366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running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retry logic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04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FOR THE SUNDARAM ROLLOUT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596896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anomaly to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alert, end to 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2523744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47288" y="2596896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47288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discovered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customers first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71616" y="2523744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F7FB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54496" y="2596896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54496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endpoints covered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structured audit logs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CONSTRAINTS — KNOWN, ACCOUNTED FOR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2624328" cy="1078992"/>
          </a:xfrm>
          <a:prstGeom prst="roundRect">
            <a:avLst>
              <a:gd name="adj" fmla="val 6780"/>
            </a:avLst>
          </a:prstGeom>
          <a:solidFill>
            <a:srgbClr val="EBF8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03320"/>
            <a:ext cx="2624328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8221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protocol overhead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1792" y="409651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loan and dealer systems likely expose SOAP/XML or fixed-schema REST endpoints. Sentinel's ingestion layer includes a lightweight adapter to normalise these into a unified event stream before monitoring begins.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64408" y="3703320"/>
            <a:ext cx="2624328" cy="1078992"/>
          </a:xfrm>
          <a:prstGeom prst="roundRect">
            <a:avLst>
              <a:gd name="adj" fmla="val 6780"/>
            </a:avLst>
          </a:prstGeom>
          <a:solidFill>
            <a:srgbClr val="EBF8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64408" y="3703320"/>
            <a:ext cx="2624328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38221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connection load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29000" y="409651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real-time health checks add measurable resource overhead under high concurrency. Sentinel mitigates this via connection pooling and configurable polling intervals tiered by endpoint criticality.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71616" y="3703320"/>
            <a:ext cx="2624328" cy="1078992"/>
          </a:xfrm>
          <a:prstGeom prst="roundRect">
            <a:avLst>
              <a:gd name="adj" fmla="val 6780"/>
            </a:avLst>
          </a:prstGeom>
          <a:solidFill>
            <a:srgbClr val="EBF8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3703320"/>
            <a:ext cx="2624328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38221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data residency mandate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36208" y="409651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IT Framework for NBFCs prohibits sending audit log data to third-party cloud storage. Sentinel's log store runs on self-hosted PostgreSQL — zero external cloud dependency, zero compliance exposure.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built this. Twice.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90472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Matching Engine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856232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matched in under 5ms with zero race conditions — real-time correctness under load.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4910328" y="1490472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Weather Nexus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0328" y="1856232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APIs integrated, 60% latency drop, zero polling — the WebSocket pattern Sentinel reuses.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136392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CollegeTips.in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502152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AI chatbot shipped to production, 30% faster load — backend ownership end to end.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9718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3136392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Internship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3502152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PostgreSQL-backed systems with GitHub Actions CI/CD — the same audit-friendly logging discipline.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Sundaram Pitch Fest · Round 2 · Solution Deep-Dive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make this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721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3794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4 weeks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Sentinel on 2-3 high-traffic APIs (loan disbursal, KYC) in a sandbox environment.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32588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4721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47288" y="183794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— 6 weeks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47288" y="213055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compliance reporting and onboard dealer-facing partner APIs.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32588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4721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54496" y="183794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54496" y="213055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governance dashboard org-wide; retire manual, fragmented logging.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2700">
            <a:solidFill>
              <a:srgbClr val="2A4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82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access to 2-3 live API endpoints to run the pilot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stakeholder to validate our audit-log format against RBI expectations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any part of this in detail.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Bharati &amp; Prakhar Verma  ·  IIT Kharagpur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PS1: API Monitoring &amp; Governance — Round 2 Deep Dive</dc:title>
  <dc:subject>PptxGenJS Presentation</dc:subject>
  <dc:creator>Vishal Kumar Bharati &amp; Prakhar Verma</dc:creator>
  <cp:lastModifiedBy>Vishal Kumar Bharati &amp; Prakhar Verma</cp:lastModifiedBy>
  <cp:revision>1</cp:revision>
  <dcterms:created xsi:type="dcterms:W3CDTF">2026-06-24T18:54:46Z</dcterms:created>
  <dcterms:modified xsi:type="dcterms:W3CDTF">2026-06-24T18:54:46Z</dcterms:modified>
</cp:coreProperties>
</file>